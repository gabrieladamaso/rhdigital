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45"/>
  </p:notesMasterIdLst>
  <p:sldIdLst>
    <p:sldId id="257" r:id="rId5"/>
    <p:sldId id="259" r:id="rId6"/>
    <p:sldId id="385" r:id="rId7"/>
    <p:sldId id="370" r:id="rId8"/>
    <p:sldId id="387" r:id="rId9"/>
    <p:sldId id="388" r:id="rId10"/>
    <p:sldId id="389" r:id="rId11"/>
    <p:sldId id="390" r:id="rId12"/>
    <p:sldId id="400" r:id="rId13"/>
    <p:sldId id="401" r:id="rId14"/>
    <p:sldId id="386" r:id="rId15"/>
    <p:sldId id="394" r:id="rId16"/>
    <p:sldId id="382" r:id="rId17"/>
    <p:sldId id="392" r:id="rId18"/>
    <p:sldId id="369" r:id="rId19"/>
    <p:sldId id="368" r:id="rId20"/>
    <p:sldId id="393" r:id="rId21"/>
    <p:sldId id="391" r:id="rId22"/>
    <p:sldId id="395" r:id="rId23"/>
    <p:sldId id="396" r:id="rId24"/>
    <p:sldId id="397" r:id="rId25"/>
    <p:sldId id="398" r:id="rId26"/>
    <p:sldId id="399" r:id="rId27"/>
    <p:sldId id="402" r:id="rId28"/>
    <p:sldId id="403" r:id="rId29"/>
    <p:sldId id="404" r:id="rId30"/>
    <p:sldId id="405" r:id="rId31"/>
    <p:sldId id="406" r:id="rId32"/>
    <p:sldId id="407" r:id="rId33"/>
    <p:sldId id="408" r:id="rId34"/>
    <p:sldId id="409" r:id="rId35"/>
    <p:sldId id="410" r:id="rId36"/>
    <p:sldId id="411" r:id="rId37"/>
    <p:sldId id="413" r:id="rId38"/>
    <p:sldId id="414" r:id="rId39"/>
    <p:sldId id="415" r:id="rId40"/>
    <p:sldId id="416" r:id="rId41"/>
    <p:sldId id="417" r:id="rId42"/>
    <p:sldId id="412" r:id="rId43"/>
    <p:sldId id="41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5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26301-104D-4E08-8660-EF575B437EE2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CE1EE-28CA-4341-9DBB-4C1BB99739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67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A6EE866-AEA5-A627-A07A-6B3ED9F9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8b2de6fac_0_964:notes">
            <a:extLst>
              <a:ext uri="{FF2B5EF4-FFF2-40B4-BE49-F238E27FC236}">
                <a16:creationId xmlns:a16="http://schemas.microsoft.com/office/drawing/2014/main" id="{57FADEAD-4BB1-2689-5066-904AD2F5B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8b2de6fac_0_964:notes">
            <a:extLst>
              <a:ext uri="{FF2B5EF4-FFF2-40B4-BE49-F238E27FC236}">
                <a16:creationId xmlns:a16="http://schemas.microsoft.com/office/drawing/2014/main" id="{12E268FA-0DAF-95F3-9229-CE3D34284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TI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Comunicação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Registro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Filiação e Licenciamento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Arbitragem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Arrecadação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Jurídico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Ouvidoria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Financeiro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Infraestrutura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TJD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ESG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DCO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92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F0CEBE6-0D27-E906-4AA0-F9FED914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8b2de6fac_0_964:notes">
            <a:extLst>
              <a:ext uri="{FF2B5EF4-FFF2-40B4-BE49-F238E27FC236}">
                <a16:creationId xmlns:a16="http://schemas.microsoft.com/office/drawing/2014/main" id="{EF667EFD-68CF-DE31-5820-DC5475717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8b2de6fac_0_964:notes">
            <a:extLst>
              <a:ext uri="{FF2B5EF4-FFF2-40B4-BE49-F238E27FC236}">
                <a16:creationId xmlns:a16="http://schemas.microsoft.com/office/drawing/2014/main" id="{5D7EDF6F-EC63-A752-CD8E-B11009211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TI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Comunicação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Registro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Filiação e Licenciamento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Arbitragem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Arrecadação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Jurídico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Ouvidoria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Financeiro</a:t>
            </a:r>
            <a:b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Infraestrutura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TJD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ESG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DCO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57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4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853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85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91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368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42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79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28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6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6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0178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gilvy one _ bg _ branco">
  <p:cSld name="Ogilvy one _ bg _ branco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9485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C8B68-2EBA-4CF9-B6D5-761F132387D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25F3E-F162-43DC-B3E2-A1DF821E98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068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5257801" cy="6858000"/>
          </a:xfrm>
          <a:prstGeom prst="rect">
            <a:avLst/>
          </a:prstGeom>
          <a:solidFill>
            <a:srgbClr val="8A0538"/>
          </a:solidFill>
        </p:spPr>
        <p:txBody>
          <a:bodyPr/>
          <a:lstStyle/>
          <a:p>
            <a:endParaRPr lang="pt-BR" sz="1200"/>
          </a:p>
        </p:txBody>
      </p:sp>
      <p:sp>
        <p:nvSpPr>
          <p:cNvPr id="14" name="TextBox 14"/>
          <p:cNvSpPr txBox="1"/>
          <p:nvPr/>
        </p:nvSpPr>
        <p:spPr>
          <a:xfrm>
            <a:off x="6337976" y="990083"/>
            <a:ext cx="5168224" cy="1414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666" spc="-93" dirty="0" err="1">
                <a:solidFill>
                  <a:srgbClr val="000000"/>
                </a:solidFill>
                <a:latin typeface="Barlow Condensed" panose="00000506000000000000" pitchFamily="2" charset="0"/>
              </a:rPr>
              <a:t>Desafio</a:t>
            </a:r>
            <a:r>
              <a:rPr lang="en-US" sz="4666" spc="-93" dirty="0">
                <a:solidFill>
                  <a:srgbClr val="000000"/>
                </a:solidFill>
                <a:latin typeface="Barlow Condensed" panose="00000506000000000000" pitchFamily="2" charset="0"/>
              </a:rPr>
              <a:t> </a:t>
            </a:r>
            <a:r>
              <a:rPr lang="en-US" sz="4666" spc="-93" dirty="0" err="1">
                <a:solidFill>
                  <a:srgbClr val="000000"/>
                </a:solidFill>
                <a:latin typeface="Barlow Condensed" panose="00000506000000000000" pitchFamily="2" charset="0"/>
              </a:rPr>
              <a:t>na</a:t>
            </a:r>
            <a:r>
              <a:rPr lang="en-US" sz="4666" spc="-93" dirty="0">
                <a:solidFill>
                  <a:srgbClr val="000000"/>
                </a:solidFill>
                <a:latin typeface="Barlow Condensed" panose="00000506000000000000" pitchFamily="2" charset="0"/>
              </a:rPr>
              <a:t> </a:t>
            </a:r>
            <a:r>
              <a:rPr lang="en-US" sz="4666" spc="-93" dirty="0" err="1">
                <a:solidFill>
                  <a:srgbClr val="000000"/>
                </a:solidFill>
                <a:latin typeface="Barlow Condensed" panose="00000506000000000000" pitchFamily="2" charset="0"/>
              </a:rPr>
              <a:t>Trilha</a:t>
            </a:r>
            <a:r>
              <a:rPr lang="en-US" sz="4666" spc="-93" dirty="0">
                <a:solidFill>
                  <a:srgbClr val="000000"/>
                </a:solidFill>
                <a:latin typeface="Barlow Condensed" panose="00000506000000000000" pitchFamily="2" charset="0"/>
              </a:rPr>
              <a:t> de </a:t>
            </a:r>
            <a:r>
              <a:rPr lang="en-US" sz="4666" spc="-93" dirty="0" err="1">
                <a:solidFill>
                  <a:srgbClr val="000000"/>
                </a:solidFill>
                <a:latin typeface="Barlow Condensed" panose="00000506000000000000" pitchFamily="2" charset="0"/>
              </a:rPr>
              <a:t>Gestão</a:t>
            </a:r>
            <a:r>
              <a:rPr lang="en-US" sz="4666" spc="-93" dirty="0">
                <a:solidFill>
                  <a:srgbClr val="000000"/>
                </a:solidFill>
                <a:latin typeface="Barlow Condensed" panose="00000506000000000000" pitchFamily="2" charset="0"/>
              </a:rPr>
              <a:t> e </a:t>
            </a:r>
            <a:r>
              <a:rPr lang="en-US" sz="4666" spc="-93" dirty="0" err="1">
                <a:solidFill>
                  <a:srgbClr val="000000"/>
                </a:solidFill>
                <a:latin typeface="Barlow Condensed" panose="00000506000000000000" pitchFamily="2" charset="0"/>
              </a:rPr>
              <a:t>Inovação</a:t>
            </a:r>
            <a:endParaRPr lang="en-US" sz="4666" spc="-93" dirty="0">
              <a:solidFill>
                <a:srgbClr val="000000"/>
              </a:solidFill>
              <a:latin typeface="Barlow Condensed" panose="00000506000000000000" pitchFamily="2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337976" y="4938880"/>
            <a:ext cx="3982764" cy="929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2"/>
              </a:lnSpc>
            </a:pPr>
            <a:r>
              <a:rPr lang="en-US" sz="1400" dirty="0" err="1">
                <a:solidFill>
                  <a:srgbClr val="000000"/>
                </a:solidFill>
                <a:latin typeface="Open Sauce"/>
              </a:rPr>
              <a:t>Trabalho</a:t>
            </a:r>
            <a:r>
              <a:rPr lang="en-US" sz="1400" dirty="0">
                <a:solidFill>
                  <a:srgbClr val="000000"/>
                </a:solidFill>
                <a:latin typeface="Open Sauce"/>
              </a:rPr>
              <a:t> Individual</a:t>
            </a:r>
          </a:p>
          <a:p>
            <a:pPr>
              <a:lnSpc>
                <a:spcPts val="2492"/>
              </a:lnSpc>
            </a:pPr>
            <a:r>
              <a:rPr lang="en-US" sz="1600" dirty="0">
                <a:solidFill>
                  <a:srgbClr val="000000"/>
                </a:solidFill>
                <a:latin typeface="Barlow Condensed" panose="00000506000000000000" pitchFamily="2" charset="0"/>
              </a:rPr>
              <a:t>Aluna: Josiane Fatima de Souza</a:t>
            </a:r>
          </a:p>
          <a:p>
            <a:pPr>
              <a:lnSpc>
                <a:spcPts val="2492"/>
              </a:lnSpc>
            </a:pPr>
            <a:endParaRPr lang="en-US" sz="1400" dirty="0">
              <a:solidFill>
                <a:srgbClr val="000000"/>
              </a:solidFill>
              <a:latin typeface="Open Sauce"/>
            </a:endParaRPr>
          </a:p>
        </p:txBody>
      </p:sp>
      <p:sp>
        <p:nvSpPr>
          <p:cNvPr id="17" name="AutoShape 6" descr="Cyrela | Espaços que Inspiram Vidas">
            <a:extLst>
              <a:ext uri="{FF2B5EF4-FFF2-40B4-BE49-F238E27FC236}">
                <a16:creationId xmlns:a16="http://schemas.microsoft.com/office/drawing/2014/main" id="{D68D91E4-7673-03B9-4E6B-DAC451CEDF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pt-BR" sz="1200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C222E89-C72B-4CC9-C8D8-C5A1A1C5CA1F}"/>
              </a:ext>
            </a:extLst>
          </p:cNvPr>
          <p:cNvSpPr txBox="1"/>
          <p:nvPr/>
        </p:nvSpPr>
        <p:spPr>
          <a:xfrm>
            <a:off x="6337976" y="3063545"/>
            <a:ext cx="5168224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pt-BR" sz="4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RHDigital</a:t>
            </a:r>
            <a:r>
              <a:rPr lang="pt-BR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800" spc="-93" dirty="0">
              <a:solidFill>
                <a:srgbClr val="000000"/>
              </a:solidFill>
              <a:latin typeface="Barlow Condensed ExtraLight" panose="00000306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8091" y="-6190509"/>
            <a:ext cx="8875819" cy="8875819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A0538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92191" y="844528"/>
            <a:ext cx="5007619" cy="67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666" spc="-93" dirty="0">
                <a:solidFill>
                  <a:srgbClr val="FFFFFF"/>
                </a:solidFill>
                <a:latin typeface="Barlow Condensed" panose="00000506000000000000" pitchFamily="2" charset="0"/>
              </a:rPr>
              <a:t>INTRODUÇÃO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9618" y="2772754"/>
            <a:ext cx="5418160" cy="4121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kern="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 uma </a:t>
            </a:r>
            <a:r>
              <a:rPr lang="pt-BR" kern="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idéia</a:t>
            </a:r>
            <a:r>
              <a:rPr lang="pt-BR" kern="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novo sistema esperam-se m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odernizar o ecossistema de Gestão de Pessoas do TRE/PR, eliminando a fragmentação entre sistemas legados locais e plataformas nacionais do TSE, entregando uma experiência digital unificada de autoatendimento ao servidor com automação ponta a ponta de processos (férias, licenças, averbações) e integração consistente com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eSocial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SGP Nacional e SEI. 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253"/>
              </a:lnSpc>
            </a:pPr>
            <a:endParaRPr lang="en-US" sz="1733" dirty="0">
              <a:solidFill>
                <a:srgbClr val="000000"/>
              </a:solidFill>
              <a:latin typeface="Barlow Condensed" panose="00000506000000000000" pitchFamily="2" charset="0"/>
            </a:endParaRPr>
          </a:p>
        </p:txBody>
      </p:sp>
      <p:sp>
        <p:nvSpPr>
          <p:cNvPr id="8" name="AutoShape 8"/>
          <p:cNvSpPr/>
          <p:nvPr/>
        </p:nvSpPr>
        <p:spPr>
          <a:xfrm flipV="1">
            <a:off x="6174223" y="3344434"/>
            <a:ext cx="0" cy="17824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120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26772CAF-D298-D20E-A627-285CE96A0B07}"/>
              </a:ext>
            </a:extLst>
          </p:cNvPr>
          <p:cNvSpPr txBox="1"/>
          <p:nvPr/>
        </p:nvSpPr>
        <p:spPr>
          <a:xfrm>
            <a:off x="6696745" y="3284509"/>
            <a:ext cx="4190043" cy="1068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6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Resultado: reduzir retrabalho, encurtar o ciclo de concessão de benefícios e garantir conformidade contínua com TCU, CNJ e TSE.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33C3-8045-3C23-0E01-0B8803B7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49214064-B2C4-BA50-77CB-A343F5BCC32B}"/>
              </a:ext>
            </a:extLst>
          </p:cNvPr>
          <p:cNvSpPr txBox="1"/>
          <p:nvPr/>
        </p:nvSpPr>
        <p:spPr>
          <a:xfrm>
            <a:off x="1510517" y="2522711"/>
            <a:ext cx="9535729" cy="2006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pt-BR" sz="4000" dirty="0" err="1">
                <a:solidFill>
                  <a:srgbClr val="8A0538"/>
                </a:solidFill>
              </a:rPr>
              <a:t>Minimum</a:t>
            </a:r>
            <a:r>
              <a:rPr lang="pt-BR" sz="4000" dirty="0">
                <a:solidFill>
                  <a:srgbClr val="8A0538"/>
                </a:solidFill>
              </a:rPr>
              <a:t> </a:t>
            </a:r>
            <a:r>
              <a:rPr lang="pt-BR" sz="4000" dirty="0" err="1">
                <a:solidFill>
                  <a:srgbClr val="8A0538"/>
                </a:solidFill>
              </a:rPr>
              <a:t>Viable</a:t>
            </a:r>
            <a:r>
              <a:rPr lang="pt-BR" sz="4000" dirty="0">
                <a:solidFill>
                  <a:srgbClr val="8A0538"/>
                </a:solidFill>
              </a:rPr>
              <a:t> </a:t>
            </a:r>
            <a:r>
              <a:rPr lang="pt-BR" sz="4000" dirty="0" err="1">
                <a:solidFill>
                  <a:srgbClr val="8A0538"/>
                </a:solidFill>
              </a:rPr>
              <a:t>Product</a:t>
            </a:r>
            <a:endParaRPr lang="pt-BR" sz="4000" dirty="0">
              <a:solidFill>
                <a:srgbClr val="8A0538"/>
              </a:solidFill>
            </a:endParaRPr>
          </a:p>
          <a:p>
            <a:pPr algn="ctr">
              <a:lnSpc>
                <a:spcPts val="3920"/>
              </a:lnSpc>
            </a:pPr>
            <a:endParaRPr lang="pt-BR" sz="4000" b="0" i="0" dirty="0">
              <a:solidFill>
                <a:srgbClr val="4F4269"/>
              </a:solidFill>
              <a:effectLst/>
              <a:latin typeface="LatoWeb"/>
            </a:endParaRPr>
          </a:p>
          <a:p>
            <a:pPr algn="ctr">
              <a:lnSpc>
                <a:spcPts val="3920"/>
              </a:lnSpc>
            </a:pPr>
            <a:r>
              <a:rPr lang="pt-BR" sz="4000" b="0" i="0" dirty="0">
                <a:solidFill>
                  <a:srgbClr val="4F4269"/>
                </a:solidFill>
                <a:effectLst/>
                <a:latin typeface="LatoWeb"/>
              </a:rPr>
              <a:t>Fluxo principal, Telas, API, Resultado da automação com IA</a:t>
            </a:r>
            <a:endParaRPr lang="en-US" sz="4000" b="1" spc="-65" dirty="0">
              <a:solidFill>
                <a:srgbClr val="90053A"/>
              </a:solidFill>
              <a:latin typeface="Barlow Condensed" panose="00000506000000000000" pitchFamily="2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C46F8DF-FEB8-B260-0C96-19625A787DED}"/>
              </a:ext>
            </a:extLst>
          </p:cNvPr>
          <p:cNvSpPr txBox="1"/>
          <p:nvPr/>
        </p:nvSpPr>
        <p:spPr>
          <a:xfrm>
            <a:off x="1510517" y="1236557"/>
            <a:ext cx="9535729" cy="109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endParaRPr lang="en-US" sz="4000" b="1" spc="-65" dirty="0">
              <a:solidFill>
                <a:srgbClr val="90053A"/>
              </a:solidFill>
              <a:latin typeface="Barlow Condensed" panose="00000506000000000000" pitchFamily="2" charset="0"/>
            </a:endParaRPr>
          </a:p>
          <a:p>
            <a:pPr algn="ctr">
              <a:lnSpc>
                <a:spcPts val="3920"/>
              </a:lnSpc>
            </a:pPr>
            <a:r>
              <a:rPr lang="pt-BR" sz="6600" b="1" i="0" dirty="0">
                <a:solidFill>
                  <a:srgbClr val="8A0538"/>
                </a:solidFill>
                <a:effectLst/>
                <a:latin typeface="LatoWeb"/>
              </a:rPr>
              <a:t>MVP</a:t>
            </a:r>
            <a:endParaRPr lang="en-US" sz="6600" b="1" spc="-65" dirty="0">
              <a:solidFill>
                <a:srgbClr val="8A0538"/>
              </a:solidFill>
              <a:latin typeface="Barlow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4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A512-BA98-0FD9-336D-939F5A79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307;p39">
            <a:extLst>
              <a:ext uri="{FF2B5EF4-FFF2-40B4-BE49-F238E27FC236}">
                <a16:creationId xmlns:a16="http://schemas.microsoft.com/office/drawing/2014/main" id="{B9299836-F954-B6C1-C5CF-BD096B50FE97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EB3F4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E1C54572-5364-118C-F859-C93D8EA76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131"/>
            <a:ext cx="12192000" cy="580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EF85-A117-9808-3C4E-D8E9BD52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307;p39">
            <a:extLst>
              <a:ext uri="{FF2B5EF4-FFF2-40B4-BE49-F238E27FC236}">
                <a16:creationId xmlns:a16="http://schemas.microsoft.com/office/drawing/2014/main" id="{D76E4E1E-D21C-F992-BF5A-25B3566D7EEB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EB3F4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369B3A9C-2488-B5E7-4A0A-A01154EE7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063"/>
            <a:ext cx="12192000" cy="59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7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0C1C-A5BE-A250-53A3-B0AFF3F8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307;p39">
            <a:extLst>
              <a:ext uri="{FF2B5EF4-FFF2-40B4-BE49-F238E27FC236}">
                <a16:creationId xmlns:a16="http://schemas.microsoft.com/office/drawing/2014/main" id="{260C14FB-4D72-9E3F-2FB2-FB91841C3390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EB3F4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021A0987-A95F-8776-5D60-22954926E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915"/>
            <a:ext cx="12192000" cy="580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7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CB46-9C33-7DC7-FD47-DD8D0E41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307;p39">
            <a:extLst>
              <a:ext uri="{FF2B5EF4-FFF2-40B4-BE49-F238E27FC236}">
                <a16:creationId xmlns:a16="http://schemas.microsoft.com/office/drawing/2014/main" id="{7478D2D6-C360-0895-E1CB-599D47EF7A41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EB3F4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10636746-DDED-B21A-7158-5C5F97EC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915"/>
            <a:ext cx="12192000" cy="598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0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2B601-5D69-2B07-6D98-007154F9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307;p39">
            <a:extLst>
              <a:ext uri="{FF2B5EF4-FFF2-40B4-BE49-F238E27FC236}">
                <a16:creationId xmlns:a16="http://schemas.microsoft.com/office/drawing/2014/main" id="{E92DFFBA-B95B-C852-219F-9B428FDB3417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EB3F4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CFA75268-561B-4AFF-9365-A79B87D6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6885"/>
            <a:ext cx="12192000" cy="584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9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1128-BE0E-F090-6A70-1B8E6FBF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307;p39">
            <a:extLst>
              <a:ext uri="{FF2B5EF4-FFF2-40B4-BE49-F238E27FC236}">
                <a16:creationId xmlns:a16="http://schemas.microsoft.com/office/drawing/2014/main" id="{E1F14952-0351-2758-D6B9-674BADFDE3C1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EB3F4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3637B6AC-63F2-5FE2-7018-01C7F810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980"/>
            <a:ext cx="12192000" cy="580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3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19E5-C998-A9BD-DC8B-97B7B9490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307;p39">
            <a:extLst>
              <a:ext uri="{FF2B5EF4-FFF2-40B4-BE49-F238E27FC236}">
                <a16:creationId xmlns:a16="http://schemas.microsoft.com/office/drawing/2014/main" id="{DF83B370-6E9E-2CCB-1548-9FFC17A824B1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EB3F4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56AAF340-1960-1FB7-1921-55B15B826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6885"/>
            <a:ext cx="12192000" cy="581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2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9F7A-9853-1B1B-FC11-08C0D2EB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A57A9A83-0FFB-78BC-5BAB-5546BDD0F2C5}"/>
              </a:ext>
            </a:extLst>
          </p:cNvPr>
          <p:cNvSpPr txBox="1"/>
          <p:nvPr/>
        </p:nvSpPr>
        <p:spPr>
          <a:xfrm>
            <a:off x="1328135" y="2619451"/>
            <a:ext cx="9535729" cy="1619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72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ARQUITETURA</a:t>
            </a:r>
          </a:p>
          <a:p>
            <a:pPr algn="ctr">
              <a:lnSpc>
                <a:spcPts val="3920"/>
              </a:lnSpc>
            </a:pPr>
            <a:endParaRPr lang="en-US" sz="7200" b="1" spc="-65" dirty="0">
              <a:solidFill>
                <a:srgbClr val="90053A"/>
              </a:solidFill>
              <a:latin typeface="Barlow Condensed" panose="00000506000000000000" pitchFamily="2" charset="0"/>
            </a:endParaRPr>
          </a:p>
          <a:p>
            <a:pPr algn="ctr">
              <a:lnSpc>
                <a:spcPts val="3920"/>
              </a:lnSpc>
            </a:pPr>
            <a:r>
              <a:rPr lang="en-US" sz="72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 CANVAS</a:t>
            </a:r>
          </a:p>
        </p:txBody>
      </p:sp>
    </p:spTree>
    <p:extLst>
      <p:ext uri="{BB962C8B-B14F-4D97-AF65-F5344CB8AC3E}">
        <p14:creationId xmlns:p14="http://schemas.microsoft.com/office/powerpoint/2010/main" val="4226804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88AC0-84EA-D1DC-FAD3-1CCCAA68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7452594-9B7E-DE5C-BE15-6F3161BBED70}"/>
              </a:ext>
            </a:extLst>
          </p:cNvPr>
          <p:cNvSpPr txBox="1"/>
          <p:nvPr/>
        </p:nvSpPr>
        <p:spPr>
          <a:xfrm>
            <a:off x="1214202" y="1244185"/>
            <a:ext cx="9398833" cy="4013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CONTEXTO DO SISTEMA</a:t>
            </a: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 </a:t>
            </a:r>
            <a:r>
              <a:rPr lang="pt-BR" sz="2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Portal do Servidor</a:t>
            </a:r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e os </a:t>
            </a:r>
            <a:r>
              <a:rPr lang="pt-BR" sz="2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backoffices da SGP </a:t>
            </a:r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consomem o novo núcleo de RH via </a:t>
            </a:r>
            <a:r>
              <a:rPr lang="pt-BR" sz="2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 Gateway </a:t>
            </a:r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/>
              <a:t>servidor que atua como o único ponto de entrada entre os clientes (aplicativos móveis, sites) e os serviços de </a:t>
            </a:r>
            <a:r>
              <a:rPr lang="pt-BR" sz="2400" b="0" i="1" u="none" strike="noStrike" dirty="0" err="1">
                <a:effectLst/>
                <a:latin typeface="Google Sans"/>
              </a:rPr>
              <a:t>backend</a:t>
            </a:r>
            <a:r>
              <a:rPr lang="pt-BR" sz="2400" b="0" i="1" u="none" strike="noStrike" dirty="0">
                <a:effectLst/>
                <a:latin typeface="Google Sans"/>
              </a:rPr>
              <a:t>)</a:t>
            </a:r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O núcleo orquestra </a:t>
            </a:r>
            <a:r>
              <a:rPr lang="pt-BR" sz="24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microsserviços</a:t>
            </a:r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domínio, publica eventos no barramento e mantém integrações controladas com sistemas externos do TSE, Receita Federal e SEI.</a:t>
            </a: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036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3E973-A3D4-BA80-14A6-3CC71C06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C8B297B-94EA-2A16-3443-01843937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23" y="569626"/>
            <a:ext cx="11017531" cy="529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28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A8C05-DF4D-E6E4-E44E-1F1F1FBD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265168A0-11E9-3A91-55AA-27F5383AEE66}"/>
              </a:ext>
            </a:extLst>
          </p:cNvPr>
          <p:cNvSpPr txBox="1"/>
          <p:nvPr/>
        </p:nvSpPr>
        <p:spPr>
          <a:xfrm>
            <a:off x="1328136" y="3137810"/>
            <a:ext cx="9535729" cy="61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72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C4 – NÍVEL 1</a:t>
            </a:r>
          </a:p>
        </p:txBody>
      </p:sp>
    </p:spTree>
    <p:extLst>
      <p:ext uri="{BB962C8B-B14F-4D97-AF65-F5344CB8AC3E}">
        <p14:creationId xmlns:p14="http://schemas.microsoft.com/office/powerpoint/2010/main" val="2857576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EC4F193-0341-7A98-721D-2B23FAE9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>
            <a:extLst>
              <a:ext uri="{FF2B5EF4-FFF2-40B4-BE49-F238E27FC236}">
                <a16:creationId xmlns:a16="http://schemas.microsoft.com/office/drawing/2014/main" id="{B0851433-E50A-D138-FB54-3B4B5E119DED}"/>
              </a:ext>
            </a:extLst>
          </p:cNvPr>
          <p:cNvSpPr/>
          <p:nvPr/>
        </p:nvSpPr>
        <p:spPr>
          <a:xfrm>
            <a:off x="10057533" y="109917"/>
            <a:ext cx="2055600" cy="491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306" name="Google Shape;306;p39">
            <a:extLst>
              <a:ext uri="{FF2B5EF4-FFF2-40B4-BE49-F238E27FC236}">
                <a16:creationId xmlns:a16="http://schemas.microsoft.com/office/drawing/2014/main" id="{0F5F8801-E3A8-6556-5477-56194A59BA43}"/>
              </a:ext>
            </a:extLst>
          </p:cNvPr>
          <p:cNvSpPr txBox="1"/>
          <p:nvPr/>
        </p:nvSpPr>
        <p:spPr>
          <a:xfrm>
            <a:off x="1764584" y="2277133"/>
            <a:ext cx="2255200" cy="8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endParaRPr sz="1733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ctr"/>
            <a:endParaRPr sz="1467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endParaRPr sz="1733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307" name="Google Shape;307;p39">
            <a:extLst>
              <a:ext uri="{FF2B5EF4-FFF2-40B4-BE49-F238E27FC236}">
                <a16:creationId xmlns:a16="http://schemas.microsoft.com/office/drawing/2014/main" id="{8402FBAA-EDE6-5FA2-E63B-9435D131DB90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8A053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4BA07DF-25C4-DEFC-8300-C2DF0B880F69}"/>
              </a:ext>
            </a:extLst>
          </p:cNvPr>
          <p:cNvSpPr txBox="1"/>
          <p:nvPr/>
        </p:nvSpPr>
        <p:spPr>
          <a:xfrm>
            <a:off x="1212600" y="743889"/>
            <a:ext cx="9608696" cy="5296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kern="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CONTEXTO DO SISTEMA</a:t>
            </a:r>
            <a:endParaRPr lang="pt-BR" sz="1800" kern="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Usuários, sistemas externos, fronteira do domínio e fluxos de interação macro.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Pessoa— usuário do sistema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Sistema-alvo— modernizado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externo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Fronteira: 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sistema-alvo opera dentro da fronteira lógica do TRE/PR — Domínio RH, consolidando capacidades hoje fragmentadas entre módulos locais e plataformas nacionais.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Fluxos macro: 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Servidores e gestores interagem via portal; o núcleo se integra ao TSE (cadastro nacional),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eSocial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(eventos trabalhistas), SEI (processos), SSO corporativo (identidade) e bancos (folha mensal), além de alimentar o BI institucional.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267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4845A89-86DD-9956-D209-ADBB6010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>
            <a:extLst>
              <a:ext uri="{FF2B5EF4-FFF2-40B4-BE49-F238E27FC236}">
                <a16:creationId xmlns:a16="http://schemas.microsoft.com/office/drawing/2014/main" id="{5FD81E4D-CB01-BBA8-3AFB-FF3AAB45B72B}"/>
              </a:ext>
            </a:extLst>
          </p:cNvPr>
          <p:cNvSpPr/>
          <p:nvPr/>
        </p:nvSpPr>
        <p:spPr>
          <a:xfrm>
            <a:off x="10057533" y="109917"/>
            <a:ext cx="2055600" cy="491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306" name="Google Shape;306;p39">
            <a:extLst>
              <a:ext uri="{FF2B5EF4-FFF2-40B4-BE49-F238E27FC236}">
                <a16:creationId xmlns:a16="http://schemas.microsoft.com/office/drawing/2014/main" id="{DA0AD107-1FE7-975A-BEAB-171388628894}"/>
              </a:ext>
            </a:extLst>
          </p:cNvPr>
          <p:cNvSpPr txBox="1"/>
          <p:nvPr/>
        </p:nvSpPr>
        <p:spPr>
          <a:xfrm>
            <a:off x="1764584" y="2277133"/>
            <a:ext cx="2255200" cy="8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endParaRPr sz="1733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ctr"/>
            <a:endParaRPr sz="1467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endParaRPr sz="1733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307" name="Google Shape;307;p39">
            <a:extLst>
              <a:ext uri="{FF2B5EF4-FFF2-40B4-BE49-F238E27FC236}">
                <a16:creationId xmlns:a16="http://schemas.microsoft.com/office/drawing/2014/main" id="{8B10149A-CD4B-159C-99EF-27A904CC73DC}"/>
              </a:ext>
            </a:extLst>
          </p:cNvPr>
          <p:cNvCxnSpPr/>
          <p:nvPr/>
        </p:nvCxnSpPr>
        <p:spPr>
          <a:xfrm>
            <a:off x="770600" y="562133"/>
            <a:ext cx="442000" cy="0"/>
          </a:xfrm>
          <a:prstGeom prst="straightConnector1">
            <a:avLst/>
          </a:prstGeom>
          <a:noFill/>
          <a:ln w="19050" cap="flat" cmpd="sng">
            <a:solidFill>
              <a:srgbClr val="8A053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FA0BCE0F-E1A3-C6D0-F0E0-203232BCA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71" y="1004345"/>
            <a:ext cx="10643016" cy="499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23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9B8CB-5EDB-33C3-B19D-F180B1FE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97DC17AC-BBF1-9182-6E9A-C6F00FC51481}"/>
              </a:ext>
            </a:extLst>
          </p:cNvPr>
          <p:cNvSpPr txBox="1"/>
          <p:nvPr/>
        </p:nvSpPr>
        <p:spPr>
          <a:xfrm>
            <a:off x="1328136" y="3137810"/>
            <a:ext cx="9535729" cy="61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72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C4 – NÍVEL 2</a:t>
            </a:r>
          </a:p>
        </p:txBody>
      </p:sp>
    </p:spTree>
    <p:extLst>
      <p:ext uri="{BB962C8B-B14F-4D97-AF65-F5344CB8AC3E}">
        <p14:creationId xmlns:p14="http://schemas.microsoft.com/office/powerpoint/2010/main" val="3748539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8063-F7A2-C1B3-D227-54E367C8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9D210410-789C-76D2-779C-69B973578A8F}"/>
              </a:ext>
            </a:extLst>
          </p:cNvPr>
          <p:cNvSpPr txBox="1"/>
          <p:nvPr/>
        </p:nvSpPr>
        <p:spPr>
          <a:xfrm>
            <a:off x="1109273" y="655741"/>
            <a:ext cx="10418163" cy="5546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800" u="sng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Portal do Servidor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(PWA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/TS) para autoatendimento e</a:t>
            </a: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u="sng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Backoffice SGP 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gestão de pessoas e folha. Ambos consomem a API/BFF via HTTPS/JSON.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 / BFF: 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Kong como API Gateway (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AuthN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/Z, rate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roteamento) e um BFF Spring que agrega chamadas aos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microsserviços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 reduzir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chattiness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front.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Camada de serviços: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Microsserviços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 subdomínio -  Cadastro, Folha, Benefícios, Frequência, Workflow e a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Regras (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Drools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isolando a lógica jurídica e fiscal.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Bancos de dados: 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PostgreSQL por serviço (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-per-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e Oracle legado mantido temporariamente sob padrão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Strangler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durante a migração incremental.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 Bus: 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Apache Kafka com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Outbox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 propagar eventos de domínio (ex.: </a:t>
            </a:r>
            <a:r>
              <a:rPr lang="pt-BR" sz="1800" i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FolhaProcessada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i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FeriasAprovadas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e desacoplar integrações com TSE e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eSocial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Observabilidade</a:t>
            </a: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IAM: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OpenTelemetry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Prometheus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(métricas), Loki (logs) e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Grafana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(dashboards/alertas).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centraliza OIDC/SSO e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Vault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guarda segredos.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652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83486D6-92AD-0044-228F-CD66C460E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26" y="479685"/>
            <a:ext cx="11047751" cy="581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88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67681-8CB9-B330-A941-0963BE16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1747A93-63BB-DF5D-FB8D-A5398A6E58EB}"/>
              </a:ext>
            </a:extLst>
          </p:cNvPr>
          <p:cNvSpPr txBox="1"/>
          <p:nvPr/>
        </p:nvSpPr>
        <p:spPr>
          <a:xfrm>
            <a:off x="1328136" y="3137810"/>
            <a:ext cx="9535729" cy="61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72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ARC2 - MÍNIMO</a:t>
            </a:r>
          </a:p>
        </p:txBody>
      </p:sp>
    </p:spTree>
    <p:extLst>
      <p:ext uri="{BB962C8B-B14F-4D97-AF65-F5344CB8AC3E}">
        <p14:creationId xmlns:p14="http://schemas.microsoft.com/office/powerpoint/2010/main" val="3472396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67C75-D0A9-BF76-8A80-F001C3D1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D019EA9-6ABC-4F5B-15AD-992C78189CD1}"/>
              </a:ext>
            </a:extLst>
          </p:cNvPr>
          <p:cNvSpPr txBox="1"/>
          <p:nvPr/>
        </p:nvSpPr>
        <p:spPr>
          <a:xfrm>
            <a:off x="602104" y="704408"/>
            <a:ext cx="10987792" cy="544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Introdução e Objetivos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Sistema de Gestão de Pessoas do TRE/PR opera hoje como um conjunto fragmentado de módulos legados em Java/Oracle, integrado de forma frágil a plataformas nacionais do TSE (SGP), ao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eSocial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ao SEI. A modernização proposta tem como objetivo entregar uma plataforma digital unificada de RH, com autoatendimento ao servidor, automação ponta a ponta de processos (férias, licenças, averbações), folha de pagamento resiliente e conformidade contínua com TCU, CNJ, TSE e LGPD.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Metas-chave: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reduzir retrabalho operacional da SGP, encurtar o ciclo de concessão de benefícios, eliminar divergências entre base local e SGP Nacional, e habilitar evolução incremental sem big-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bang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 e Requisitos Arquiteturais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 de negócio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Pressão por digitalização do serviço público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Adesão obrigatória ao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eSocial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ao SGP Nacional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de custo operacional na SGP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Experiência do servidor (mobile, autoatendimento)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577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0EB1-1FDE-9998-1486-878FCC129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882CB7B-287E-437D-C360-CF1541BD0DDE}"/>
              </a:ext>
            </a:extLst>
          </p:cNvPr>
          <p:cNvSpPr txBox="1"/>
          <p:nvPr/>
        </p:nvSpPr>
        <p:spPr>
          <a:xfrm>
            <a:off x="659567" y="151605"/>
            <a:ext cx="11287594" cy="586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Requisitos funcionais essenciais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Ciclo de vida do servidor (admissão a desligamento)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Folha de pagamento com regras locais e judiciais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Autoatendimento: férias, licenças, averbações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Workflow eletrônico integrado/substitutivo ao SEI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Frequência, banco de horas e teletrabalho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Sincronização com SGP Nacional e eventos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eSocial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b="1" kern="0" cap="all" spc="17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Qualidades Críticas (ISO/IEC 25010)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Confiabilidade: disponibilidade ≥ 99,5% para folha; janela mensal inviolável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Segurança: SSO corporativo, LGPD-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-design, cifragem em trânsito e repouso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Manutenibilidade: regras jurídicas isoladas em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fora da folha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Compatibilidade: interoperabilidade com TSE,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eSocial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SEI, bancos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Performance: processamento da folha dentro da janela operacional mensal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Usabilidade: portal mobile-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acessível (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eMAG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WCAG 2.1 AA)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213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8D88D-18EF-AEF6-0C13-E6186993F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D1CDEC-B5A4-9B84-1449-C8ADA269D620}"/>
              </a:ext>
            </a:extLst>
          </p:cNvPr>
          <p:cNvSpPr txBox="1"/>
          <p:nvPr/>
        </p:nvSpPr>
        <p:spPr>
          <a:xfrm>
            <a:off x="914400" y="1062570"/>
            <a:ext cx="10643016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pt-BR" sz="1800" b="1" cap="all" spc="17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Visão de Solução (ligada ao C4 Nível 2)</a:t>
            </a:r>
            <a:endParaRPr lang="pt-BR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solução adota uma arquitetura de </a:t>
            </a:r>
            <a:r>
              <a:rPr lang="pt-BR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microsserviços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por domínio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orquestrados por um 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API Gateway + BFF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com 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barramento de eventos Kafka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para integração assíncrona e padrão </a:t>
            </a:r>
            <a:r>
              <a:rPr lang="pt-BR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Strangler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para substituir incrementalmente o monólito Oracle.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pt-BR" sz="1800" b="1" cap="all" spc="4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Frontend</a:t>
            </a:r>
            <a:r>
              <a:rPr lang="pt-BR" sz="1800" b="1" cap="all" spc="4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Portal do Servidor (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React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+ Backoffice SGP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pt-BR" sz="1800" b="1" cap="all" spc="4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API / BFF: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Kong Gateway + BFF Spring Boot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pt-BR" sz="1800" b="1" cap="all" spc="4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Serviços de domínio: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Cadastro · Folha · Benefícios · Frequência · Workflow · Regras (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Drools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pt-BR" sz="1800" b="1" cap="all" spc="4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Dados: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PostgreSQL (novo) + Oracle (legado, em substituição)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pt-BR" sz="1800" b="1" cap="all" spc="4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Mensageria: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Apache Kafka +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Outbox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Pattern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800" b="1" cap="all" spc="4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Observabilidade</a:t>
            </a:r>
            <a:r>
              <a:rPr lang="pt-BR" sz="1800" b="1" cap="all" spc="4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&amp; IAM: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OpenTelemetry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·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Grafana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/Loki ·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Keycloak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·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Vault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826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89EC780-25A1-9BB9-A167-1F84598F9440}"/>
              </a:ext>
            </a:extLst>
          </p:cNvPr>
          <p:cNvSpPr txBox="1"/>
          <p:nvPr/>
        </p:nvSpPr>
        <p:spPr>
          <a:xfrm>
            <a:off x="1094282" y="1261370"/>
            <a:ext cx="10583056" cy="397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Riscos Técnicos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Quebra da folha: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qualquer falha tem impacto financeiro e reputacional direto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Divergência local ↔ SGP Nacional: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duas fontes de verdade durante a transição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Mudança de esquema do TSE: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contratos externos fora do nosso controle podem quebrar integrações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Regras presas em </a:t>
            </a:r>
            <a:r>
              <a:rPr lang="pt-BR" sz="1800" b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procedures: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alto custo e risco na migração para o </a:t>
            </a:r>
            <a:r>
              <a:rPr lang="pt-BR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Maturidade do time em </a:t>
            </a:r>
            <a:r>
              <a:rPr lang="pt-BR" sz="1800" b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microsserviços</a:t>
            </a: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/Kafka: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curva de aprendizado pode atrasar entregas iniciais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LGPD em integrações: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exposição indevida de dados sensíveis entre sistemas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Sombra do SEI:</a:t>
            </a:r>
            <a:r>
              <a:rPr lang="pt-BR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processos paralelos podem persistir e gerar retrabalho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944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8DC5381-FF84-0346-32CB-92251636BE9B}"/>
              </a:ext>
            </a:extLst>
          </p:cNvPr>
          <p:cNvSpPr txBox="1"/>
          <p:nvPr/>
        </p:nvSpPr>
        <p:spPr>
          <a:xfrm>
            <a:off x="1344118" y="1814201"/>
            <a:ext cx="9503764" cy="3013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cap="all" spc="17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Visão Futura</a:t>
            </a:r>
            <a:endParaRPr lang="pt-BR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Curto prazo (0–6 meses):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Portal do Servidor + autoatendimento de férias/licenças; SSO unificado</a:t>
            </a:r>
            <a:endParaRPr lang="pt-B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Médio prazo (6–18 meses):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extração dos domínios Cadastro, Frequência e Benefícios do monólito;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engine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regras em produção</a:t>
            </a:r>
            <a:endParaRPr lang="pt-B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Longo prazo (18–36 meses):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folha modernizada em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microsserviço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com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Drools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; adoção plena do SGP Nacional onde homologado; descomissionamento do Oracle legado</a:t>
            </a:r>
            <a:endParaRPr lang="pt-B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Evoluções: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data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lake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corporativo para BI de força de trabalho; assistentes de IA para suporte ao servidor e triagem de processos</a:t>
            </a:r>
            <a:endParaRPr lang="pt-B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502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725F45-D24A-9C5B-0833-B798D3EBA7EE}"/>
              </a:ext>
            </a:extLst>
          </p:cNvPr>
          <p:cNvSpPr txBox="1"/>
          <p:nvPr/>
        </p:nvSpPr>
        <p:spPr>
          <a:xfrm>
            <a:off x="3049250" y="2261667"/>
            <a:ext cx="6093500" cy="165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54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ORGANIZAÇÃO DA</a:t>
            </a:r>
          </a:p>
          <a:p>
            <a:pPr algn="ctr">
              <a:lnSpc>
                <a:spcPts val="3920"/>
              </a:lnSpc>
            </a:pPr>
            <a:endParaRPr lang="en-US" sz="5400" b="1" spc="-65" dirty="0">
              <a:solidFill>
                <a:srgbClr val="90053A"/>
              </a:solidFill>
              <a:latin typeface="Barlow Condensed" panose="00000506000000000000" pitchFamily="2" charset="0"/>
            </a:endParaRPr>
          </a:p>
          <a:p>
            <a:pPr algn="ctr">
              <a:lnSpc>
                <a:spcPts val="3920"/>
              </a:lnSpc>
            </a:pPr>
            <a:r>
              <a:rPr lang="en-US" sz="54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 TRANSFORMAÇÃO</a:t>
            </a:r>
          </a:p>
        </p:txBody>
      </p:sp>
    </p:spTree>
    <p:extLst>
      <p:ext uri="{BB962C8B-B14F-4D97-AF65-F5344CB8AC3E}">
        <p14:creationId xmlns:p14="http://schemas.microsoft.com/office/powerpoint/2010/main" val="1439666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159CC3F-26D3-A592-73ED-DD7FB50960D4}"/>
              </a:ext>
            </a:extLst>
          </p:cNvPr>
          <p:cNvSpPr txBox="1"/>
          <p:nvPr/>
        </p:nvSpPr>
        <p:spPr>
          <a:xfrm>
            <a:off x="1667656" y="786692"/>
            <a:ext cx="8390744" cy="5546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pt-BR" sz="2000" b="1" i="0" u="sng" dirty="0" err="1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Topologies</a:t>
            </a: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propostos</a:t>
            </a: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foco aqui é reduzir a carga cognitiva dos desenvolvedores e garantir que o software evolua rapidamente, minimizando dependências burocráticas.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1.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Stream-Aligned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Teams (Times Alinhados ao Fluxo de Valor)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São times multidisciplinares que entregam valor diretamente para o usuário final de ponta a ponta. No RH do TRE/PR, seriam divididos por jornadas do servidor: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de Jornada do Servidor (Cadastro e Autoatendimento):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Focado na experiência do servidor, desde a posse, marcação de férias, licenças até a aposentadoria (reduzindo a dependência do SEI manual).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de Compensação e Benefícios: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Focado no fluxo de fechamento da folha de pagamento, gratificações e vantagens locais.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632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74B48FB-C6BB-5B74-D572-08D476BA838D}"/>
              </a:ext>
            </a:extLst>
          </p:cNvPr>
          <p:cNvSpPr txBox="1"/>
          <p:nvPr/>
        </p:nvSpPr>
        <p:spPr>
          <a:xfrm>
            <a:off x="734518" y="444046"/>
            <a:ext cx="11137692" cy="5546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2.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Platform Team (Time de Plataforma)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time interno cujo produto é a infraestrutura e as ferramentas que os outros times usam. Eles pavimentam o caminho para os times de fluxo rodarem rápido.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de Plataforma de TI: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Responsável por fornecer o ambiente de nuvem/contêineres (Docker/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esteiras de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deploy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automático (CI/CD), barramento de APIs e o sistema de login único corporativo (SSO via Gov.br/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Keycloak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3. </a:t>
            </a: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Enabling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Team (Time de Capacitação / Facilitadores)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Times de especialistas que não constroem o software de RH diretamente, mas ensinam os outros times a adotar novas tecnologias e práticas, reduzindo a curva de aprendizado.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de Transformação Digital / Agilidade: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Apoia as equipes na transição da arquitetura legada (Java monólito) para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microsserviços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práticas de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além de apoiar o RH no mapeamento de processos (AS-IS e TO-BE) e metodologias ágeis.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229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B2E7BEA-BB08-CB8D-08E1-C0EADD07C26E}"/>
              </a:ext>
            </a:extLst>
          </p:cNvPr>
          <p:cNvSpPr txBox="1"/>
          <p:nvPr/>
        </p:nvSpPr>
        <p:spPr>
          <a:xfrm>
            <a:off x="804472" y="881072"/>
            <a:ext cx="10583056" cy="4300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4. </a:t>
            </a: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Complicated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Subsystem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Team (Time de Subsistema Complicado)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time focado em uma parte do sistema que exige conhecimento matemático, jurídico ou técnico altamente especializado, evitando que todos os times precisem dominar essa complexidade.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de Motor de Integração e Regras Jurídicas: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Responsável exclusivo por manter o motor de cálculo de regras complexas da folha de pagamento e os esquemas de dados de envio rigoroso para o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eSocial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TSE Nacional.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7758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D2974DA-D629-6608-F220-8E1935DF6FED}"/>
              </a:ext>
            </a:extLst>
          </p:cNvPr>
          <p:cNvSpPr txBox="1"/>
          <p:nvPr/>
        </p:nvSpPr>
        <p:spPr>
          <a:xfrm>
            <a:off x="5008588" y="475937"/>
            <a:ext cx="2244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Modelo Spotify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152F9AD-84ED-9BA3-41DF-CCEB35145616}"/>
              </a:ext>
            </a:extLst>
          </p:cNvPr>
          <p:cNvSpPr txBox="1"/>
          <p:nvPr/>
        </p:nvSpPr>
        <p:spPr>
          <a:xfrm>
            <a:off x="1244184" y="1224728"/>
            <a:ext cx="10373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Para dar escala à estrutura do Team 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Topologies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o Modelo Spotify organiza a governança, o alinhamento técnico e a cultura de comunidade do Tribunal.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08B5F4-9FB0-EDE1-BED8-DF1D3FD7E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30" y="2168311"/>
            <a:ext cx="10523095" cy="268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89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9968DAA-908C-E263-8047-175E3A382B53}"/>
              </a:ext>
            </a:extLst>
          </p:cNvPr>
          <p:cNvSpPr txBox="1"/>
          <p:nvPr/>
        </p:nvSpPr>
        <p:spPr>
          <a:xfrm>
            <a:off x="1064302" y="604444"/>
            <a:ext cx="10463134" cy="564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Squads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São unidades básicas e autônomas. Cada </a:t>
            </a:r>
            <a:r>
              <a:rPr lang="pt-BR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Stream-Aligned</a:t>
            </a:r>
            <a:r>
              <a:rPr lang="pt-BR" sz="1800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Team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Complicated</a:t>
            </a:r>
            <a:r>
              <a:rPr lang="pt-BR" sz="1800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Subsystem</a:t>
            </a:r>
            <a:r>
              <a:rPr lang="pt-BR" sz="1800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Team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vira uma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Folha: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Composta por desenvolvedores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Java, analista de negócios (especialista em folha do RH) e QA.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Portal do Servidor: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Composta por desenvolvedores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fullstack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UX/UI Designer e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Owner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Tribes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(Tribos)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conjunto de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Squads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trabalham na mesma área de negócio.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Tribo de Gestão de Pessoas (RH Digital):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Unifica todas as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Squads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mencionadas acima, sob a liderança de um </a:t>
            </a:r>
            <a:r>
              <a:rPr lang="pt-BR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Tribe</a:t>
            </a:r>
            <a:r>
              <a:rPr lang="pt-BR" sz="1800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Lead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(que faz a ponte executiva entre a SITI - Secretaria de TI e a SGP - Secretaria de Gestão de Pessoas).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53940D-9815-9A04-C1D0-A26C070AF6FF}"/>
              </a:ext>
            </a:extLst>
          </p:cNvPr>
          <p:cNvSpPr txBox="1"/>
          <p:nvPr/>
        </p:nvSpPr>
        <p:spPr>
          <a:xfrm>
            <a:off x="4890542" y="404389"/>
            <a:ext cx="216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</a:pP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Modelo Spotify</a:t>
            </a:r>
          </a:p>
        </p:txBody>
      </p:sp>
    </p:spTree>
    <p:extLst>
      <p:ext uri="{BB962C8B-B14F-4D97-AF65-F5344CB8AC3E}">
        <p14:creationId xmlns:p14="http://schemas.microsoft.com/office/powerpoint/2010/main" val="1078077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9C663C4-1A24-A19A-0798-9A46FC34F694}"/>
              </a:ext>
            </a:extLst>
          </p:cNvPr>
          <p:cNvSpPr txBox="1"/>
          <p:nvPr/>
        </p:nvSpPr>
        <p:spPr>
          <a:xfrm>
            <a:off x="707036" y="804179"/>
            <a:ext cx="10777928" cy="5249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Chapters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(Capítulos)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15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linha horizontal que une profissionais da mesma especialidade em diferentes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Squads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garantir o alinhamento técnico e padrões de qualidade.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Chapter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Java/Spring </a:t>
            </a: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Garante que o código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escrito na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Folha e na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Squad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Portal siga as mesmas boas práticas arquiteturais.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Chapter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UX/UI e Produto: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Garante que a identidade visual e a usabilidade do sistema de RH sejam padronizadas.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Guilds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(Guildas)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15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Comunidades de interesse abertas a qualquer pessoa do Tribunal (inclusive fora do RH) para compartilhar conhecimento.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Guilda de Agilidade no Setor Público: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Discussões sobre como desburocratizar processos administrativos.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Guilda de Engenharia de Dados: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Compartilhamento de técnicas de extração e relatórios via BI/Power BI.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201F48-536B-6136-F9EC-D268B4A6970E}"/>
              </a:ext>
            </a:extLst>
          </p:cNvPr>
          <p:cNvSpPr txBox="1"/>
          <p:nvPr/>
        </p:nvSpPr>
        <p:spPr>
          <a:xfrm>
            <a:off x="4845571" y="404069"/>
            <a:ext cx="22897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Modelo Spotify</a:t>
            </a:r>
          </a:p>
        </p:txBody>
      </p:sp>
    </p:spTree>
    <p:extLst>
      <p:ext uri="{BB962C8B-B14F-4D97-AF65-F5344CB8AC3E}">
        <p14:creationId xmlns:p14="http://schemas.microsoft.com/office/powerpoint/2010/main" val="1908196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D1D79F7-F7BF-AC1D-1421-D2C4403234B6}"/>
              </a:ext>
            </a:extLst>
          </p:cNvPr>
          <p:cNvSpPr txBox="1"/>
          <p:nvPr/>
        </p:nvSpPr>
        <p:spPr>
          <a:xfrm>
            <a:off x="3774398" y="347484"/>
            <a:ext cx="4643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 err="1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R’s</a:t>
            </a: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modernização aplicados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AB6B69-846E-AF83-3FE1-D22803E72930}"/>
              </a:ext>
            </a:extLst>
          </p:cNvPr>
          <p:cNvSpPr txBox="1"/>
          <p:nvPr/>
        </p:nvSpPr>
        <p:spPr>
          <a:xfrm>
            <a:off x="1006839" y="1724495"/>
            <a:ext cx="10178322" cy="264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Pode-se pensar em modernizar o ecossistema de RH do TRE/PR e resolver as dores apontadas (monólitos, dependência do TSE, processos manuais e gargalos de integração), aplicando a estratégia dos </a:t>
            </a:r>
            <a:r>
              <a:rPr lang="pt-BR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R's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Modernização de Aplicações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(framework da AWS/Gartner).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Mesmo sabendo que seria muito difícil uma modernização apenas num órgão dependente da infraestrutura central (TSE), segue uma tentativa de transformar o diagnóstico em um plano de ação estruturado: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53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5A85A-A810-B64F-1AF4-3CD3802BC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FB7FF9C-C9B0-BEA0-2B53-D5E2A499028B}"/>
              </a:ext>
            </a:extLst>
          </p:cNvPr>
          <p:cNvSpPr txBox="1"/>
          <p:nvPr/>
        </p:nvSpPr>
        <p:spPr>
          <a:xfrm>
            <a:off x="3774398" y="347484"/>
            <a:ext cx="4643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 err="1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R’s</a:t>
            </a: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modernização aplicados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882BE94-6E1B-BF30-C46A-4F39B93E1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70595"/>
              </p:ext>
            </p:extLst>
          </p:nvPr>
        </p:nvGraphicFramePr>
        <p:xfrm>
          <a:off x="959370" y="944380"/>
          <a:ext cx="10598047" cy="5566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31891">
                  <a:extLst>
                    <a:ext uri="{9D8B030D-6E8A-4147-A177-3AD203B41FA5}">
                      <a16:colId xmlns:a16="http://schemas.microsoft.com/office/drawing/2014/main" val="541285719"/>
                    </a:ext>
                  </a:extLst>
                </a:gridCol>
                <a:gridCol w="3533078">
                  <a:extLst>
                    <a:ext uri="{9D8B030D-6E8A-4147-A177-3AD203B41FA5}">
                      <a16:colId xmlns:a16="http://schemas.microsoft.com/office/drawing/2014/main" val="1015552792"/>
                    </a:ext>
                  </a:extLst>
                </a:gridCol>
                <a:gridCol w="3533078">
                  <a:extLst>
                    <a:ext uri="{9D8B030D-6E8A-4147-A177-3AD203B41FA5}">
                      <a16:colId xmlns:a16="http://schemas.microsoft.com/office/drawing/2014/main" val="485163877"/>
                    </a:ext>
                  </a:extLst>
                </a:gridCol>
              </a:tblGrid>
              <a:tr h="2357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900" kern="100">
                          <a:effectLst/>
                        </a:rPr>
                        <a:t>R’s</a:t>
                      </a:r>
                      <a:endParaRPr lang="pt-BR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489" marR="50489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900" kern="100">
                          <a:effectLst/>
                        </a:rPr>
                        <a:t>Alvo</a:t>
                      </a:r>
                      <a:endParaRPr lang="pt-BR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489" marR="50489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900" kern="100">
                          <a:effectLst/>
                        </a:rPr>
                        <a:t>Aplicação</a:t>
                      </a:r>
                      <a:endParaRPr lang="pt-BR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489" marR="50489" marT="0" marB="0"/>
                </a:tc>
                <a:extLst>
                  <a:ext uri="{0D108BD9-81ED-4DB2-BD59-A6C34878D82A}">
                    <a16:rowId xmlns:a16="http://schemas.microsoft.com/office/drawing/2014/main" val="3034385952"/>
                  </a:ext>
                </a:extLst>
              </a:tr>
              <a:tr h="23425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Replace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(Substituir)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489" marR="5048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Módulos locais de cadastro e autoatendimento que duplicam funções do TSE.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489" marR="504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Substituir progressivamente os sistemas legados de RH locais pelo SGP Nacional (TSE) à medida que as frentes nacionais forem homologadas. O foco do tribunal regional deve deixar de ser o desenvolvimento de software de RH genérico e passar a ser o consumo de plataformas centralizadas.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489" marR="50489" marT="0" marB="0"/>
                </a:tc>
                <a:extLst>
                  <a:ext uri="{0D108BD9-81ED-4DB2-BD59-A6C34878D82A}">
                    <a16:rowId xmlns:a16="http://schemas.microsoft.com/office/drawing/2014/main" val="1500446631"/>
                  </a:ext>
                </a:extLst>
              </a:tr>
              <a:tr h="29878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Rearchitect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Rearquitetar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489" marR="5048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Regras de negócio complexas presas em </a:t>
                      </a: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stored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procedures e no monólito de folha de pagamento.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489" marR="504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Desacoplar o monólito Java/Oracle rígido. As regras de cálculo específicas do estado (vantagens pessoais, decisões judiciais locais) devem ser isoladas em </a:t>
                      </a: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microsserviços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ou APIs independentes. Isso elimina o risco de uma alteração na folha derrubar o módulo de frequência e facilita a manutenção das regras jurídicas que mudam constantemente.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489" marR="50489" marT="0" marB="0"/>
                </a:tc>
                <a:extLst>
                  <a:ext uri="{0D108BD9-81ED-4DB2-BD59-A6C34878D82A}">
                    <a16:rowId xmlns:a16="http://schemas.microsoft.com/office/drawing/2014/main" val="2092432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569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59B1-CB44-6A22-8E41-2155D51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CD5F9BB-1E81-0468-8A62-F3C19D462533}"/>
              </a:ext>
            </a:extLst>
          </p:cNvPr>
          <p:cNvSpPr txBox="1"/>
          <p:nvPr/>
        </p:nvSpPr>
        <p:spPr>
          <a:xfrm>
            <a:off x="3774398" y="347484"/>
            <a:ext cx="4643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 err="1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R’s</a:t>
            </a: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modernização aplicados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C9AE9CD-38B2-A9AB-A5B7-6CE1E27FC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069919"/>
              </p:ext>
            </p:extLst>
          </p:nvPr>
        </p:nvGraphicFramePr>
        <p:xfrm>
          <a:off x="644577" y="974361"/>
          <a:ext cx="10987789" cy="52026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1775">
                  <a:extLst>
                    <a:ext uri="{9D8B030D-6E8A-4147-A177-3AD203B41FA5}">
                      <a16:colId xmlns:a16="http://schemas.microsoft.com/office/drawing/2014/main" val="1427291247"/>
                    </a:ext>
                  </a:extLst>
                </a:gridCol>
                <a:gridCol w="3663007">
                  <a:extLst>
                    <a:ext uri="{9D8B030D-6E8A-4147-A177-3AD203B41FA5}">
                      <a16:colId xmlns:a16="http://schemas.microsoft.com/office/drawing/2014/main" val="1314776469"/>
                    </a:ext>
                  </a:extLst>
                </a:gridCol>
                <a:gridCol w="3663007">
                  <a:extLst>
                    <a:ext uri="{9D8B030D-6E8A-4147-A177-3AD203B41FA5}">
                      <a16:colId xmlns:a16="http://schemas.microsoft.com/office/drawing/2014/main" val="3846811299"/>
                    </a:ext>
                  </a:extLst>
                </a:gridCol>
              </a:tblGrid>
              <a:tr h="28030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Rebuild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(Reconstruir / Redesenhar)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27" marR="5062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Processos manuais e a dependência excessiva de trâmite de processos no SEI.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27" marR="5062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Reconstruir a experiência do usuário (UX). A partir de um mapeamento de processos (AS-IS para TO-BE), desenvolver portais de autoatendimento modernos (usando frameworks ágeis e mobile-</a:t>
                      </a: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friendly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onde pedidos de férias ou licenças sejam automatizados de ponta a ponta, eliminando a necessidade de o servidor abrir um processo manual no SEI para rotinas padrão.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27" marR="50627" marT="0" marB="0"/>
                </a:tc>
                <a:extLst>
                  <a:ext uri="{0D108BD9-81ED-4DB2-BD59-A6C34878D82A}">
                    <a16:rowId xmlns:a16="http://schemas.microsoft.com/office/drawing/2014/main" val="1243690344"/>
                  </a:ext>
                </a:extLst>
              </a:tr>
              <a:tr h="2399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Refactor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Refatorar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27" marR="5062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Camada de integração com o </a:t>
                      </a: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eSocial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 barramento de serviços do TSE.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27" marR="5062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Otimizar o código Java/Spring existente para abandonar o processamento em lote (batch) e adotar uma Arquitetura Orientada a Eventos (EDA). Quando um dado for alterado no RH local, ele deve disparar um evento que atualiza os sistemas parceiros em tempo real, eliminando os gargalos de comunicação e os dados dessincronizados.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27" marR="50627" marT="0" marB="0"/>
                </a:tc>
                <a:extLst>
                  <a:ext uri="{0D108BD9-81ED-4DB2-BD59-A6C34878D82A}">
                    <a16:rowId xmlns:a16="http://schemas.microsoft.com/office/drawing/2014/main" val="2837381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4987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6DA6-63E2-5AC3-648A-3DD34D5C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01EF098-737D-E897-070A-BB8144340108}"/>
              </a:ext>
            </a:extLst>
          </p:cNvPr>
          <p:cNvSpPr txBox="1"/>
          <p:nvPr/>
        </p:nvSpPr>
        <p:spPr>
          <a:xfrm>
            <a:off x="3774398" y="347484"/>
            <a:ext cx="4643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 err="1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R’s</a:t>
            </a: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modernização aplicados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5391833-DECE-D5F9-36F2-A350A2E83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760433"/>
              </p:ext>
            </p:extLst>
          </p:nvPr>
        </p:nvGraphicFramePr>
        <p:xfrm>
          <a:off x="1019332" y="974361"/>
          <a:ext cx="10523093" cy="5126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6911">
                  <a:extLst>
                    <a:ext uri="{9D8B030D-6E8A-4147-A177-3AD203B41FA5}">
                      <a16:colId xmlns:a16="http://schemas.microsoft.com/office/drawing/2014/main" val="1087724795"/>
                    </a:ext>
                  </a:extLst>
                </a:gridCol>
                <a:gridCol w="3508091">
                  <a:extLst>
                    <a:ext uri="{9D8B030D-6E8A-4147-A177-3AD203B41FA5}">
                      <a16:colId xmlns:a16="http://schemas.microsoft.com/office/drawing/2014/main" val="778659177"/>
                    </a:ext>
                  </a:extLst>
                </a:gridCol>
                <a:gridCol w="3508091">
                  <a:extLst>
                    <a:ext uri="{9D8B030D-6E8A-4147-A177-3AD203B41FA5}">
                      <a16:colId xmlns:a16="http://schemas.microsoft.com/office/drawing/2014/main" val="1971547784"/>
                    </a:ext>
                  </a:extLst>
                </a:gridCol>
              </a:tblGrid>
              <a:tr h="32211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Replatform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(Mudar de Plataforma / Infraestrutura)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Infraestrutura local e servidores físicos de banco de dados.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Mover a aplicação dos servidores locais para uma infraestrutura de nuvem (privada ou de governo) utilizando contêineres (Docker/</a:t>
                      </a: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Kubernetes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). Isso resolve as limitações de escalabilidade, reduz as janelas de manutenção estritas e facilita o trabalho dos times de infraestrutura e </a:t>
                      </a: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(CI/CD).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8306238"/>
                  </a:ext>
                </a:extLst>
              </a:tr>
              <a:tr h="19054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Retain</a:t>
                      </a: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(Manter) 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módulos legados de relatórios estatísticos, consultas históricas e ferramentas de extração de dados antigos</a:t>
                      </a:r>
                      <a:endParaRPr lang="pt-BR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Manter temporariamente os módulos de relatórios e consultas antigas enquanto um repositório moderno de dados (Data Lake/BI) é estruturado para a Secretaria de Gestão de Pessoas.</a:t>
                      </a:r>
                      <a:endParaRPr lang="pt-BR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98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49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CA682-FF57-EA96-7538-A2C337C6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9F7146D-3CCE-48B9-CCE4-6F8F990120FE}"/>
              </a:ext>
            </a:extLst>
          </p:cNvPr>
          <p:cNvSpPr txBox="1"/>
          <p:nvPr/>
        </p:nvSpPr>
        <p:spPr>
          <a:xfrm>
            <a:off x="3774398" y="347484"/>
            <a:ext cx="4643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 err="1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R’s</a:t>
            </a: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modernização aplicados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CC7874-D58E-2EA2-E1EF-319CB0C0C4A8}"/>
              </a:ext>
            </a:extLst>
          </p:cNvPr>
          <p:cNvSpPr txBox="1"/>
          <p:nvPr/>
        </p:nvSpPr>
        <p:spPr>
          <a:xfrm>
            <a:off x="234846" y="973057"/>
            <a:ext cx="11722308" cy="5294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50000"/>
              </a:lnSpc>
              <a:spcAft>
                <a:spcPts val="800"/>
              </a:spcAft>
            </a:pPr>
            <a:r>
              <a:rPr lang="pt-BR" sz="14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Rearchitect</a:t>
            </a:r>
            <a:r>
              <a:rPr lang="pt-BR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</a:t>
            </a:r>
            <a:r>
              <a:rPr lang="pt-BR" sz="14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Replace</a:t>
            </a:r>
            <a:r>
              <a:rPr lang="pt-BR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para o Sistema de RH</a:t>
            </a:r>
            <a:endParaRPr lang="pt-BR" sz="1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Podemos desdobrar essa modernização em duas frentes: a evolução daqueles relatórios antigos (o alvo do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Retain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e a transformação estrutural do core do sistema (integração com o SEI e banco de dados).</a:t>
            </a: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 deixar de apenas "manter" os relatórios legados e resolver o problema de lentidão e dificuldade de extração de dados, aplicamos: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Rearchitect</a:t>
            </a:r>
            <a:r>
              <a:rPr lang="pt-BR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pt-BR" sz="14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Rearquitetar</a:t>
            </a:r>
            <a:r>
              <a:rPr lang="pt-BR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 Arquitetura de Dados):</a:t>
            </a:r>
            <a:endParaRPr lang="pt-BR" sz="1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Como aplicar: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Implementar o padrão CQRS (Command Query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Responsibility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Segregation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ou, de forma mais simples, criar uma Réplica de Leitura (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Read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Replica) do banco de dados (Oracle/PostgreSQL).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que muda: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Separa-se o banco de dados que calcula a folha de pagamento (OLTP - escrita) do banco usado para extrair relatórios pesados (OLAP - leitura). Isso garante que uma consulta de auditoria do TCU feita por um usuário não trave o sistema de RH para o restante do Tribunal.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Replace</a:t>
            </a:r>
            <a:r>
              <a:rPr lang="pt-BR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(Substituir as Ferramentas de Relatório):</a:t>
            </a:r>
            <a:endParaRPr lang="pt-BR" sz="1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Como aplicar: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Substituir geradores de relatórios antigos e rígidos (como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JasperReports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Crystal Reports ou queries manuais via SQL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Developer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por uma plataforma moderna de Business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Intelligence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(BI), como o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Metabase</a:t>
            </a:r>
            <a:r>
              <a:rPr lang="pt-BR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ou Power BI, integrada a um Data Warehouse/Data Lake.</a:t>
            </a:r>
          </a:p>
        </p:txBody>
      </p:sp>
    </p:spTree>
    <p:extLst>
      <p:ext uri="{BB962C8B-B14F-4D97-AF65-F5344CB8AC3E}">
        <p14:creationId xmlns:p14="http://schemas.microsoft.com/office/powerpoint/2010/main" val="2203759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5CCD-5D6E-DAB0-2AEF-5EE2E621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7373E28-DDA3-94E0-3C4D-DA8F02C8700D}"/>
              </a:ext>
            </a:extLst>
          </p:cNvPr>
          <p:cNvSpPr txBox="1"/>
          <p:nvPr/>
        </p:nvSpPr>
        <p:spPr>
          <a:xfrm>
            <a:off x="3049250" y="2261667"/>
            <a:ext cx="6093500" cy="165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54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TECNOLOGIA</a:t>
            </a:r>
          </a:p>
          <a:p>
            <a:pPr algn="ctr">
              <a:lnSpc>
                <a:spcPts val="3920"/>
              </a:lnSpc>
            </a:pPr>
            <a:endParaRPr lang="en-US" sz="5400" b="1" spc="-65" dirty="0">
              <a:solidFill>
                <a:srgbClr val="90053A"/>
              </a:solidFill>
              <a:latin typeface="Barlow Condensed" panose="00000506000000000000" pitchFamily="2" charset="0"/>
            </a:endParaRPr>
          </a:p>
          <a:p>
            <a:pPr algn="ctr">
              <a:lnSpc>
                <a:spcPts val="3920"/>
              </a:lnSpc>
            </a:pPr>
            <a:r>
              <a:rPr lang="en-US" sz="5400" b="1" spc="-65" dirty="0">
                <a:solidFill>
                  <a:srgbClr val="90053A"/>
                </a:solidFill>
                <a:latin typeface="Barlow Condensed" panose="00000506000000000000" pitchFamily="2" charset="0"/>
              </a:rPr>
              <a:t> UTILIZADA</a:t>
            </a:r>
          </a:p>
        </p:txBody>
      </p:sp>
    </p:spTree>
    <p:extLst>
      <p:ext uri="{BB962C8B-B14F-4D97-AF65-F5344CB8AC3E}">
        <p14:creationId xmlns:p14="http://schemas.microsoft.com/office/powerpoint/2010/main" val="3501317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04FB5D4-7C57-5C60-3F11-E49F4E5E4D00}"/>
              </a:ext>
            </a:extLst>
          </p:cNvPr>
          <p:cNvSpPr txBox="1"/>
          <p:nvPr/>
        </p:nvSpPr>
        <p:spPr>
          <a:xfrm>
            <a:off x="614596" y="836012"/>
            <a:ext cx="10628027" cy="3793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15000"/>
              </a:lnSpc>
              <a:spcAft>
                <a:spcPts val="800"/>
              </a:spcAft>
            </a:pPr>
            <a:endParaRPr lang="pt-BR" sz="2000" b="1" kern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Frontend</a:t>
            </a:r>
            <a:r>
              <a:rPr lang="pt-BR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HTML5, CSS3 moderno (com variáveis de CSS para padronização de temas) e </a:t>
            </a:r>
            <a:r>
              <a:rPr lang="pt-BR" sz="20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Vanilla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JavaScript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utilizando a biblioteca </a:t>
            </a:r>
            <a:r>
              <a:rPr lang="pt-BR" sz="20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Tabler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Icons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para a iconografia. Para a versão de produção, evoluiremos para um framework como </a:t>
            </a:r>
            <a:r>
              <a:rPr lang="pt-BR" sz="20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React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ou Angular.</a:t>
            </a:r>
            <a:endParaRPr lang="pt-BR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Backend</a:t>
            </a:r>
            <a:r>
              <a:rPr lang="pt-BR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Microsserviços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em Java (Spring Boot) ou Node.js, hospedados em containers Docker.</a:t>
            </a:r>
            <a:endParaRPr lang="pt-BR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Integração/Automação: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APIs </a:t>
            </a:r>
            <a:r>
              <a:rPr lang="pt-BR" sz="20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RESTful</a:t>
            </a:r>
            <a:r>
              <a:rPr lang="pt-BR" sz="2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para orquestração e ferramentas de IA generativa para a leitura de documentos processuais e atestados.</a:t>
            </a:r>
            <a:endParaRPr lang="pt-BR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449580" algn="just">
              <a:lnSpc>
                <a:spcPct val="115000"/>
              </a:lnSpc>
              <a:spcAft>
                <a:spcPts val="800"/>
              </a:spcAft>
            </a:pPr>
            <a:endParaRPr lang="pt-BR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487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A256466-93EB-08E5-5C1A-7FBB8CFADD92}"/>
              </a:ext>
            </a:extLst>
          </p:cNvPr>
          <p:cNvSpPr txBox="1"/>
          <p:nvPr/>
        </p:nvSpPr>
        <p:spPr>
          <a:xfrm>
            <a:off x="1214203" y="2686588"/>
            <a:ext cx="100284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 o novo RH Digital, o TRE/PR não está apenas trocando de sistema; estamos transformando a cultura organizacional. Reduzimos a burocracia, empoderamos o servidor com autoatendimento claro e transparente, e preparamos a arquitetura do tribunal para o futuro. 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3DBBC5F-FA6C-F56E-EF23-559C547A6E31}"/>
              </a:ext>
            </a:extLst>
          </p:cNvPr>
          <p:cNvSpPr txBox="1"/>
          <p:nvPr/>
        </p:nvSpPr>
        <p:spPr>
          <a:xfrm>
            <a:off x="3429624" y="1291864"/>
            <a:ext cx="4643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0C844C-7CC7-5D1C-16CF-D7DF7C144BF5}"/>
              </a:ext>
            </a:extLst>
          </p:cNvPr>
          <p:cNvSpPr txBox="1"/>
          <p:nvPr/>
        </p:nvSpPr>
        <p:spPr>
          <a:xfrm>
            <a:off x="164892" y="5366081"/>
            <a:ext cx="120271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visualizar o </a:t>
            </a:r>
            <a:r>
              <a:rPr lang="pt-BR" sz="2000" b="1" i="0" u="sng" dirty="0" err="1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pt-BR" sz="2000" b="1" i="0" u="sng" dirty="0">
                <a:solidFill>
                  <a:srgbClr val="4F42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trabalho funcionando acesse: https://drive.google.com/file/d/1F75QRZQw5qhjkGXV1Q7HZi6uE2NFNuQ0/view?usp=sharing</a:t>
            </a:r>
          </a:p>
        </p:txBody>
      </p:sp>
    </p:spTree>
    <p:extLst>
      <p:ext uri="{BB962C8B-B14F-4D97-AF65-F5344CB8AC3E}">
        <p14:creationId xmlns:p14="http://schemas.microsoft.com/office/powerpoint/2010/main" val="3144745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E2BBB8878F1B4E9473CB97F34B9B93" ma:contentTypeVersion="14" ma:contentTypeDescription="Create a new document." ma:contentTypeScope="" ma:versionID="5c23c877a7ffb80a81ef3d3e00febbd1">
  <xsd:schema xmlns:xsd="http://www.w3.org/2001/XMLSchema" xmlns:xs="http://www.w3.org/2001/XMLSchema" xmlns:p="http://schemas.microsoft.com/office/2006/metadata/properties" xmlns:ns3="cd516ce3-9ca5-43a3-ae6d-f504ccd6ffe1" xmlns:ns4="6f3d3351-5fb8-4055-b269-3cc1694bb7c4" targetNamespace="http://schemas.microsoft.com/office/2006/metadata/properties" ma:root="true" ma:fieldsID="1f905823b90bf1965cb3a6c51815b9c1" ns3:_="" ns4:_="">
    <xsd:import namespace="cd516ce3-9ca5-43a3-ae6d-f504ccd6ffe1"/>
    <xsd:import namespace="6f3d3351-5fb8-4055-b269-3cc1694bb7c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16ce3-9ca5-43a3-ae6d-f504ccd6ff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3d3351-5fb8-4055-b269-3cc1694bb7c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57298E-0FD4-4FDB-A6A5-B86795291698}">
  <ds:schemaRefs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microsoft.com/office/2006/metadata/properties"/>
    <ds:schemaRef ds:uri="6f3d3351-5fb8-4055-b269-3cc1694bb7c4"/>
    <ds:schemaRef ds:uri="http://purl.org/dc/dcmitype/"/>
    <ds:schemaRef ds:uri="http://schemas.openxmlformats.org/package/2006/metadata/core-properties"/>
    <ds:schemaRef ds:uri="cd516ce3-9ca5-43a3-ae6d-f504ccd6ffe1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827C058-091A-41F9-BC41-9730D32B5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516ce3-9ca5-43a3-ae6d-f504ccd6ffe1"/>
    <ds:schemaRef ds:uri="6f3d3351-5fb8-4055-b269-3cc1694bb7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8315C9E-654F-4A7B-9BC4-BACA31AF52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2629</TotalTime>
  <Words>2704</Words>
  <Application>Microsoft Office PowerPoint</Application>
  <PresentationFormat>Widescreen</PresentationFormat>
  <Paragraphs>184</Paragraphs>
  <Slides>40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55" baseType="lpstr">
      <vt:lpstr>Aptos</vt:lpstr>
      <vt:lpstr>Aptos Display</vt:lpstr>
      <vt:lpstr>Arial</vt:lpstr>
      <vt:lpstr>Barlow</vt:lpstr>
      <vt:lpstr>Barlow Condensed</vt:lpstr>
      <vt:lpstr>Barlow Condensed ExtraLight</vt:lpstr>
      <vt:lpstr>Calibri</vt:lpstr>
      <vt:lpstr>Courier New</vt:lpstr>
      <vt:lpstr>Google Sans</vt:lpstr>
      <vt:lpstr>LatoWeb</vt:lpstr>
      <vt:lpstr>Open Sauce</vt:lpstr>
      <vt:lpstr>Segoe UI Emoji</vt:lpstr>
      <vt:lpstr>Symbol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Suzane Apolinária</dc:creator>
  <cp:lastModifiedBy>Josiane Souza</cp:lastModifiedBy>
  <cp:revision>10</cp:revision>
  <dcterms:created xsi:type="dcterms:W3CDTF">2025-06-07T14:48:40Z</dcterms:created>
  <dcterms:modified xsi:type="dcterms:W3CDTF">2026-05-25T04:26:32Z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0x010100D6E2BBB8878F1B4E9473CB97F34B9B93</vt:lpwstr>
  </property>
</Properties>
</file>